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0758045d-c4fd-ce04-dfe6-b01e72b6e8d2}">
          <p14:sldIdLst>
            <p14:sldId id="256"/>
            <p14:sldId id="257"/>
          </p14:sldIdLst>
        </p14:section>
        <p14:section name="Requisitos" id="{ccc11f3e-3911-6a10-2374-1d432f32839b}">
          <p14:sldIdLst>
            <p14:sldId id="258"/>
            <p14:sldId id="259"/>
          </p14:sldIdLst>
        </p14:section>
        <p14:section name="Arquitectura" id="{b19345a6-63ff-f9ea-b397-56d60d91e3f1}">
          <p14:sldIdLst>
            <p14:sldId id="260"/>
            <p14:sldId id="261"/>
            <p14:sldId id="262"/>
            <p14:sldId id="263"/>
            <p14:sldId id="264"/>
          </p14:sldIdLst>
        </p14:section>
        <p14:section name="Patrones" id="{d1137331-a2e6-64b2-2102-57f2869d5a98}">
          <p14:sldIdLst>
            <p14:sldId id="265"/>
          </p14:sldIdLst>
        </p14:section>
        <p14:section name="Prototipo" id="{cd90b790-4e55-3bae-8bba-45c4be4e4629}">
          <p14:sldIdLst>
            <p14:sldId id="266"/>
          </p14:sldIdLst>
        </p14:section>
        <p14:section name="Cierre" id="{cec4a433-642c-59bc-fd70-35ac35ebced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Hola, soy Brayan Herrera. En esta presentación muestro la arquitectura que propuse para Distribuciones Andina: el análisis de requisitos, los diagramas UML, los patrones de diseño para la nube y una demostración del prototipo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guía no traía el caso de estudio, así que lo formulé respetando lo que pide la actividad. Andina es una mayorista de Bogotá con unas 1.500 facturas de venta y 400 de compra al mes. Todo se consolida a mano en Excel, el inventario se actualiza al final del día, los scripts corren en un solo PC y en temporada el volumen se triplica. La empresa quiere centralizar en la nube, tener inventario casi en tiempo real y que el sistema no se caiga en los picos.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Identifiqué los requisitos con tres técnicas: análisis del proceso actual, casos de uso y priorización MoSCoW. Son diez requisitos funcionales; los más importantes son registrar facturas en el estándar UBL de la DIAN, clasificarlas como venta o compra, rechazar duplicados y actualizar el inventario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requisitos no funcionales son los que más pesan en la arquitectura. Escalabilidad para los picos, disponibilidad del 99,5 %, registro en menos de 500 ms, seguridad, resiliencia, mantenibilidad, portabilidad y observabilidad. Cada uno tiene una táctica concreta, que se ve luego en los patrones.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Comparé un monolito con microservicios. El monolito es más simple, pero escala todo junto y una falla lo detiene todo. Elegí microservicios orientados a eventos, limitados a dos servicios de negocio más un gateway, para no sobredimensionar: Facturación publica un evento y el Inventario lo procesa cuando puede.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diagrama delimita el alcance. Los actores son el auxiliar contable, el gerente, el vendedor y el proveedor tecnológico como sistema externo. Los include muestran lo que siempre pasa al registrar una factura; el extend, la alerta que solo ocurre si el stock queda 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diagrama de clases se ven los patrones. FacturacionService no conoce el formato del XML ni la base de datos: usa interfaces. Por eso en las pruebas uso un bus en memoria y en la nube Redis, sin cambiar el código del dominio.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secuencia muestra la clave del diseño: el usuario recibe la respuesta apenas se guarda la factura. El inventario se actualiza después, de forma asíncrona. Si Inventario está caído, el evento queda esperando en Redis y no se pierde.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despliegue, solo el gateway está expuesto a Internet. Los servicios de negocio están en una red privada, cada uno con su base de datos, y Redis es un servicio administrado. Todo se despliega desde GitHub con el archivo render.yaml.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Elegí nueve patrones a partir de los requisitos no funcionales y del catálogo de patrones para la nube de Microsoft. La idea es una cadena de defensa: el gateway protege la entrada, el retry absorbe fallos breves, el circuit breaker corta los largos, Pub/Sub desacopla y la idempotencia hace segura la reentrega. Descarté Saga y CQRS porque el caso no los justifica.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Ahora la demostración. [Mostrar en pantalla: docker compose up, luego Swagger.] Registro la factura de compra, que llega en un AttachedDocument como desde el correo: 30 morrales y 20 canguros. Luego la factura de venta: 12 morrales y 17 canguros. El inventario queda en 18 y 3, y aparece la alerta de stock bajo para los canguros. Si envío otra vez la misma venta, el sistema responde 409. Por último, corro las 10 pruebas automatizadas.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cerrar: los patrones salieron de los atributos de calidad, no al revés. La arquitectura permite escalar el inventario en temporada, seguir registrando facturas aunque un servicio falle y agregar nuevos consumidores sin tocar Facturación. Como trabajo futuro: PostgreSQL administrado, OAuth 2.0, trazabilidad con OpenTelemetry y el patrón Outbox. El código está en el repositorio con su README.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Orquestando códigos · Arquitectura de Software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rayanj20/andina-clou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Orquestando códigos: la sinfonía de los sistemas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Arquitectura de microservicios en la nube para la facturación electrónica y el inventario de Distribuciones Andina S.A.S.</a:t>
            </a:r>
            <a:endParaRPr lang="en-US" sz="2000" dirty="0"/>
          </a:p>
        </p:txBody>
      </p:sp>
      <p:sp>
        <p:nvSpPr>
          <p:cNvPr id="4" name="t1"/>
          <p:cNvSpPr txBox="1"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Brayan Julián Herrera Rodríguez</a:t>
            </a:r>
            <a:endParaRPr lang="en-US" sz="1800" dirty="0"/>
          </a:p>
        </p:txBody>
      </p:sp>
      <p:sp>
        <p:nvSpPr>
          <p:cNvPr id="5" name="t2"/>
          <p:cNvSpPr txBox="1"/>
          <p:nvPr/>
        </p:nvSpPr>
        <p:spPr>
          <a:xfrm>
            <a:off x="64008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Arquitectura de Software (ISV804) · Unidad 1 · Actividad 2 · Tecnológica del Oriente · Octubre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estudio: Distribuciones Andina S.A.S.</a:t>
            </a:r>
            <a:endParaRPr lang="en-US" sz="3200" dirty="0"/>
          </a:p>
        </p:txBody>
      </p:sp>
      <p:sp>
        <p:nvSpPr>
          <p:cNvPr id="4" name="c3"/>
          <p:cNvSpPr/>
          <p:nvPr/>
        </p:nvSpPr>
        <p:spPr>
          <a:xfrm>
            <a:off x="548640" y="1371600"/>
            <a:ext cx="3840480" cy="1280160"/>
          </a:xfrm>
          <a:prstGeom prst="roundRect">
            <a:avLst>
              <a:gd name="adj" fmla="val 8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4"/>
          <p:cNvSpPr txBox="1"/>
          <p:nvPr/>
        </p:nvSpPr>
        <p:spPr>
          <a:xfrm>
            <a:off x="777240" y="1481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≈1.500</a:t>
            </a:r>
            <a:endParaRPr lang="en-US" sz="3600" dirty="0"/>
          </a:p>
        </p:txBody>
      </p:sp>
      <p:sp>
        <p:nvSpPr>
          <p:cNvPr id="6" name="t5"/>
          <p:cNvSpPr txBox="1"/>
          <p:nvPr/>
        </p:nvSpPr>
        <p:spPr>
          <a:xfrm>
            <a:off x="777240" y="21214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facturas de venta al mes</a:t>
            </a:r>
            <a:endParaRPr lang="en-US" sz="1400" dirty="0"/>
          </a:p>
        </p:txBody>
      </p:sp>
      <p:sp>
        <p:nvSpPr>
          <p:cNvPr id="7" name="c6"/>
          <p:cNvSpPr/>
          <p:nvPr/>
        </p:nvSpPr>
        <p:spPr>
          <a:xfrm>
            <a:off x="548640" y="2834640"/>
            <a:ext cx="3840480" cy="1280160"/>
          </a:xfrm>
          <a:prstGeom prst="roundRect">
            <a:avLst>
              <a:gd name="adj" fmla="val 8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7"/>
          <p:cNvSpPr txBox="1"/>
          <p:nvPr/>
        </p:nvSpPr>
        <p:spPr>
          <a:xfrm>
            <a:off x="777240" y="29443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≈400</a:t>
            </a:r>
            <a:endParaRPr lang="en-US" sz="3600" dirty="0"/>
          </a:p>
        </p:txBody>
      </p:sp>
      <p:sp>
        <p:nvSpPr>
          <p:cNvPr id="9" name="t8"/>
          <p:cNvSpPr txBox="1"/>
          <p:nvPr/>
        </p:nvSpPr>
        <p:spPr>
          <a:xfrm>
            <a:off x="777240" y="35844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facturas de compra al mes (ZIP con XML por correo)</a:t>
            </a:r>
            <a:endParaRPr lang="en-US" sz="1400" dirty="0"/>
          </a:p>
        </p:txBody>
      </p:sp>
      <p:sp>
        <p:nvSpPr>
          <p:cNvPr id="10" name="c9"/>
          <p:cNvSpPr/>
          <p:nvPr/>
        </p:nvSpPr>
        <p:spPr>
          <a:xfrm>
            <a:off x="548640" y="4297680"/>
            <a:ext cx="3840480" cy="1280160"/>
          </a:xfrm>
          <a:prstGeom prst="roundRect">
            <a:avLst>
              <a:gd name="adj" fmla="val 8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10"/>
          <p:cNvSpPr txBox="1"/>
          <p:nvPr/>
        </p:nvSpPr>
        <p:spPr>
          <a:xfrm>
            <a:off x="777240" y="44074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  <p:sp>
        <p:nvSpPr>
          <p:cNvPr id="12" name="t11"/>
          <p:cNvSpPr txBox="1"/>
          <p:nvPr/>
        </p:nvSpPr>
        <p:spPr>
          <a:xfrm>
            <a:off x="777240" y="50474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volumen en enero-febrero y diciembre</a:t>
            </a:r>
            <a:endParaRPr lang="en-US" sz="1400" dirty="0"/>
          </a:p>
        </p:txBody>
      </p:sp>
      <p:sp>
        <p:nvSpPr>
          <p:cNvPr id="13" name="c12"/>
          <p:cNvSpPr/>
          <p:nvPr/>
        </p:nvSpPr>
        <p:spPr>
          <a:xfrm>
            <a:off x="4754880" y="13716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4" name="t13"/>
          <p:cNvSpPr txBox="1"/>
          <p:nvPr/>
        </p:nvSpPr>
        <p:spPr>
          <a:xfrm>
            <a:off x="498348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actuales</a:t>
            </a:r>
            <a:endParaRPr lang="en-US" sz="1800" dirty="0"/>
          </a:p>
        </p:txBody>
      </p:sp>
      <p:sp>
        <p:nvSpPr>
          <p:cNvPr id="15" name="t14"/>
          <p:cNvSpPr txBox="1"/>
          <p:nvPr/>
        </p:nvSpPr>
        <p:spPr>
          <a:xfrm>
            <a:off x="4983480" y="201168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Consolidación manual en Excel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Inventario actualizado al final del día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Scripts en un solo PC: punto único de falla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Colapso en temporada alta</a:t>
            </a:r>
            <a:endParaRPr lang="en-US" sz="1500" dirty="0"/>
          </a:p>
        </p:txBody>
      </p:sp>
      <p:sp>
        <p:nvSpPr>
          <p:cNvPr id="16" name="c15"/>
          <p:cNvSpPr/>
          <p:nvPr/>
        </p:nvSpPr>
        <p:spPr>
          <a:xfrm>
            <a:off x="8321040" y="13716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7" name="t16"/>
          <p:cNvSpPr txBox="1"/>
          <p:nvPr/>
        </p:nvSpPr>
        <p:spPr>
          <a:xfrm>
            <a:off x="854964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espera la empresa</a:t>
            </a:r>
            <a:endParaRPr lang="en-US" sz="1800" dirty="0"/>
          </a:p>
        </p:txBody>
      </p:sp>
      <p:sp>
        <p:nvSpPr>
          <p:cNvPr id="18" name="t17"/>
          <p:cNvSpPr txBox="1"/>
          <p:nvPr/>
        </p:nvSpPr>
        <p:spPr>
          <a:xfrm>
            <a:off x="8549640" y="201168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Facturas centralizadas en la nube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Inventario casi en tiempo real y alertas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Reportes de ventas, compras e IVA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Escalar en picos y tolerar fallos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API segura para integraciones</a:t>
            </a:r>
            <a:endParaRPr lang="en-US" sz="1500" dirty="0"/>
          </a:p>
        </p:txBody>
      </p:sp>
      <p:sp>
        <p:nvSpPr>
          <p:cNvPr id="19" name="t18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Caso formulado por el estudiante porque la guía de aprendizaje no incluye el caso del docente.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funcionales (MoSCoW)</a:t>
            </a:r>
            <a:endParaRPr lang="en-US" sz="3200" dirty="0"/>
          </a:p>
        </p:txBody>
      </p:sp>
      <p:sp>
        <p:nvSpPr>
          <p:cNvPr id="4" name="c19"/>
          <p:cNvSpPr/>
          <p:nvPr/>
        </p:nvSpPr>
        <p:spPr>
          <a:xfrm>
            <a:off x="548640" y="132588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20"/>
          <p:cNvSpPr txBox="1"/>
          <p:nvPr/>
        </p:nvSpPr>
        <p:spPr>
          <a:xfrm>
            <a:off x="731520" y="1325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RF-01</a:t>
            </a:r>
            <a:endParaRPr lang="en-US" sz="1500" dirty="0"/>
          </a:p>
        </p:txBody>
      </p:sp>
      <p:sp>
        <p:nvSpPr>
          <p:cNvPr id="6" name="t21"/>
          <p:cNvSpPr txBox="1"/>
          <p:nvPr/>
        </p:nvSpPr>
        <p:spPr>
          <a:xfrm>
            <a:off x="1645920" y="1325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Registrar facturas XML UBL 2.1 (incluido AttachedDocument)</a:t>
            </a:r>
            <a:endParaRPr lang="en-US" sz="1500" dirty="0"/>
          </a:p>
        </p:txBody>
      </p:sp>
      <p:sp>
        <p:nvSpPr>
          <p:cNvPr id="7" name="t22"/>
          <p:cNvSpPr txBox="1"/>
          <p:nvPr/>
        </p:nvSpPr>
        <p:spPr>
          <a:xfrm>
            <a:off x="4937760" y="1325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Debe</a:t>
            </a:r>
            <a:endParaRPr lang="en-US" sz="1300" dirty="0"/>
          </a:p>
        </p:txBody>
      </p:sp>
      <p:sp>
        <p:nvSpPr>
          <p:cNvPr id="8" name="c23"/>
          <p:cNvSpPr/>
          <p:nvPr/>
        </p:nvSpPr>
        <p:spPr>
          <a:xfrm>
            <a:off x="6172200" y="132588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24"/>
          <p:cNvSpPr txBox="1"/>
          <p:nvPr/>
        </p:nvSpPr>
        <p:spPr>
          <a:xfrm>
            <a:off x="6355080" y="1325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RF-02</a:t>
            </a:r>
            <a:endParaRPr lang="en-US" sz="1500" dirty="0"/>
          </a:p>
        </p:txBody>
      </p:sp>
      <p:sp>
        <p:nvSpPr>
          <p:cNvPr id="10" name="t25"/>
          <p:cNvSpPr txBox="1"/>
          <p:nvPr/>
        </p:nvSpPr>
        <p:spPr>
          <a:xfrm>
            <a:off x="7269480" y="1325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Registrar facturas por API en JSON</a:t>
            </a:r>
            <a:endParaRPr lang="en-US" sz="1500" dirty="0"/>
          </a:p>
        </p:txBody>
      </p:sp>
      <p:sp>
        <p:nvSpPr>
          <p:cNvPr id="11" name="t26"/>
          <p:cNvSpPr txBox="1"/>
          <p:nvPr/>
        </p:nvSpPr>
        <p:spPr>
          <a:xfrm>
            <a:off x="10561320" y="1325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Debe</a:t>
            </a:r>
            <a:endParaRPr lang="en-US" sz="1300" dirty="0"/>
          </a:p>
        </p:txBody>
      </p:sp>
      <p:sp>
        <p:nvSpPr>
          <p:cNvPr id="12" name="c27"/>
          <p:cNvSpPr/>
          <p:nvPr/>
        </p:nvSpPr>
        <p:spPr>
          <a:xfrm>
            <a:off x="548640" y="228600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13" name="t28"/>
          <p:cNvSpPr txBox="1"/>
          <p:nvPr/>
        </p:nvSpPr>
        <p:spPr>
          <a:xfrm>
            <a:off x="731520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RF-03</a:t>
            </a:r>
            <a:endParaRPr lang="en-US" sz="1500" dirty="0"/>
          </a:p>
        </p:txBody>
      </p:sp>
      <p:sp>
        <p:nvSpPr>
          <p:cNvPr id="14" name="t29"/>
          <p:cNvSpPr txBox="1"/>
          <p:nvPr/>
        </p:nvSpPr>
        <p:spPr>
          <a:xfrm>
            <a:off x="164592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Clasificar venta o compra según el NIT</a:t>
            </a:r>
            <a:endParaRPr lang="en-US" sz="1500" dirty="0"/>
          </a:p>
        </p:txBody>
      </p:sp>
      <p:sp>
        <p:nvSpPr>
          <p:cNvPr id="15" name="t30"/>
          <p:cNvSpPr txBox="1"/>
          <p:nvPr/>
        </p:nvSpPr>
        <p:spPr>
          <a:xfrm>
            <a:off x="4937760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Debe</a:t>
            </a:r>
            <a:endParaRPr lang="en-US" sz="1300" dirty="0"/>
          </a:p>
        </p:txBody>
      </p:sp>
      <p:sp>
        <p:nvSpPr>
          <p:cNvPr id="16" name="c31"/>
          <p:cNvSpPr/>
          <p:nvPr/>
        </p:nvSpPr>
        <p:spPr>
          <a:xfrm>
            <a:off x="6172200" y="228600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17" name="t32"/>
          <p:cNvSpPr txBox="1"/>
          <p:nvPr/>
        </p:nvSpPr>
        <p:spPr>
          <a:xfrm>
            <a:off x="6355080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RF-04</a:t>
            </a:r>
            <a:endParaRPr lang="en-US" sz="1500" dirty="0"/>
          </a:p>
        </p:txBody>
      </p:sp>
      <p:sp>
        <p:nvSpPr>
          <p:cNvPr id="18" name="t33"/>
          <p:cNvSpPr txBox="1"/>
          <p:nvPr/>
        </p:nvSpPr>
        <p:spPr>
          <a:xfrm>
            <a:off x="726948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Rechazar duplicadas y mal formadas</a:t>
            </a:r>
            <a:endParaRPr lang="en-US" sz="1500" dirty="0"/>
          </a:p>
        </p:txBody>
      </p:sp>
      <p:sp>
        <p:nvSpPr>
          <p:cNvPr id="19" name="t34"/>
          <p:cNvSpPr txBox="1"/>
          <p:nvPr/>
        </p:nvSpPr>
        <p:spPr>
          <a:xfrm>
            <a:off x="10561320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Debe</a:t>
            </a:r>
            <a:endParaRPr lang="en-US" sz="1300" dirty="0"/>
          </a:p>
        </p:txBody>
      </p:sp>
      <p:sp>
        <p:nvSpPr>
          <p:cNvPr id="20" name="c35"/>
          <p:cNvSpPr/>
          <p:nvPr/>
        </p:nvSpPr>
        <p:spPr>
          <a:xfrm>
            <a:off x="548640" y="324612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36"/>
          <p:cNvSpPr txBox="1"/>
          <p:nvPr/>
        </p:nvSpPr>
        <p:spPr>
          <a:xfrm>
            <a:off x="731520" y="3246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RF-05</a:t>
            </a:r>
            <a:endParaRPr lang="en-US" sz="1500" dirty="0"/>
          </a:p>
        </p:txBody>
      </p:sp>
      <p:sp>
        <p:nvSpPr>
          <p:cNvPr id="22" name="t37"/>
          <p:cNvSpPr txBox="1"/>
          <p:nvPr/>
        </p:nvSpPr>
        <p:spPr>
          <a:xfrm>
            <a:off x="164592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Consultar facturas por tipo y fecha</a:t>
            </a:r>
            <a:endParaRPr lang="en-US" sz="1500" dirty="0"/>
          </a:p>
        </p:txBody>
      </p:sp>
      <p:sp>
        <p:nvSpPr>
          <p:cNvPr id="23" name="t38"/>
          <p:cNvSpPr txBox="1"/>
          <p:nvPr/>
        </p:nvSpPr>
        <p:spPr>
          <a:xfrm>
            <a:off x="4937760" y="3246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Debe</a:t>
            </a:r>
            <a:endParaRPr lang="en-US" sz="1300" dirty="0"/>
          </a:p>
        </p:txBody>
      </p:sp>
      <p:sp>
        <p:nvSpPr>
          <p:cNvPr id="24" name="c39"/>
          <p:cNvSpPr/>
          <p:nvPr/>
        </p:nvSpPr>
        <p:spPr>
          <a:xfrm>
            <a:off x="6172200" y="324612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40"/>
          <p:cNvSpPr txBox="1"/>
          <p:nvPr/>
        </p:nvSpPr>
        <p:spPr>
          <a:xfrm>
            <a:off x="6355080" y="3246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RF-06</a:t>
            </a:r>
            <a:endParaRPr lang="en-US" sz="1500" dirty="0"/>
          </a:p>
        </p:txBody>
      </p:sp>
      <p:sp>
        <p:nvSpPr>
          <p:cNvPr id="26" name="t41"/>
          <p:cNvSpPr txBox="1"/>
          <p:nvPr/>
        </p:nvSpPr>
        <p:spPr>
          <a:xfrm>
            <a:off x="726948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Resumen de ventas, compras e IVA</a:t>
            </a:r>
            <a:endParaRPr lang="en-US" sz="1500" dirty="0"/>
          </a:p>
        </p:txBody>
      </p:sp>
      <p:sp>
        <p:nvSpPr>
          <p:cNvPr id="27" name="t42"/>
          <p:cNvSpPr txBox="1"/>
          <p:nvPr/>
        </p:nvSpPr>
        <p:spPr>
          <a:xfrm>
            <a:off x="10561320" y="3246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Debería</a:t>
            </a:r>
            <a:endParaRPr lang="en-US" sz="1300" dirty="0"/>
          </a:p>
        </p:txBody>
      </p:sp>
      <p:sp>
        <p:nvSpPr>
          <p:cNvPr id="28" name="c43"/>
          <p:cNvSpPr/>
          <p:nvPr/>
        </p:nvSpPr>
        <p:spPr>
          <a:xfrm>
            <a:off x="548640" y="420624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29" name="t44"/>
          <p:cNvSpPr txBox="1"/>
          <p:nvPr/>
        </p:nvSpPr>
        <p:spPr>
          <a:xfrm>
            <a:off x="731520" y="4206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RF-07</a:t>
            </a:r>
            <a:endParaRPr lang="en-US" sz="1500" dirty="0"/>
          </a:p>
        </p:txBody>
      </p:sp>
      <p:sp>
        <p:nvSpPr>
          <p:cNvPr id="30" name="t45"/>
          <p:cNvSpPr txBox="1"/>
          <p:nvPr/>
        </p:nvSpPr>
        <p:spPr>
          <a:xfrm>
            <a:off x="1645920" y="4206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Actualizar inventario con cada factura</a:t>
            </a:r>
            <a:endParaRPr lang="en-US" sz="1500" dirty="0"/>
          </a:p>
        </p:txBody>
      </p:sp>
      <p:sp>
        <p:nvSpPr>
          <p:cNvPr id="31" name="t46"/>
          <p:cNvSpPr txBox="1"/>
          <p:nvPr/>
        </p:nvSpPr>
        <p:spPr>
          <a:xfrm>
            <a:off x="4937760" y="4206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Debe</a:t>
            </a:r>
            <a:endParaRPr lang="en-US" sz="1300" dirty="0"/>
          </a:p>
        </p:txBody>
      </p:sp>
      <p:sp>
        <p:nvSpPr>
          <p:cNvPr id="32" name="c47"/>
          <p:cNvSpPr/>
          <p:nvPr/>
        </p:nvSpPr>
        <p:spPr>
          <a:xfrm>
            <a:off x="6172200" y="420624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3" name="t48"/>
          <p:cNvSpPr txBox="1"/>
          <p:nvPr/>
        </p:nvSpPr>
        <p:spPr>
          <a:xfrm>
            <a:off x="6355080" y="4206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RF-08</a:t>
            </a:r>
            <a:endParaRPr lang="en-US" sz="1500" dirty="0"/>
          </a:p>
        </p:txBody>
      </p:sp>
      <p:sp>
        <p:nvSpPr>
          <p:cNvPr id="34" name="t49"/>
          <p:cNvSpPr txBox="1"/>
          <p:nvPr/>
        </p:nvSpPr>
        <p:spPr>
          <a:xfrm>
            <a:off x="7269480" y="4206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Consultar stock y kardex</a:t>
            </a:r>
            <a:endParaRPr lang="en-US" sz="1500" dirty="0"/>
          </a:p>
        </p:txBody>
      </p:sp>
      <p:sp>
        <p:nvSpPr>
          <p:cNvPr id="35" name="t50"/>
          <p:cNvSpPr txBox="1"/>
          <p:nvPr/>
        </p:nvSpPr>
        <p:spPr>
          <a:xfrm>
            <a:off x="10561320" y="4206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Debe</a:t>
            </a:r>
            <a:endParaRPr lang="en-US" sz="1300" dirty="0"/>
          </a:p>
        </p:txBody>
      </p:sp>
      <p:sp>
        <p:nvSpPr>
          <p:cNvPr id="36" name="c51"/>
          <p:cNvSpPr/>
          <p:nvPr/>
        </p:nvSpPr>
        <p:spPr>
          <a:xfrm>
            <a:off x="548640" y="516636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7" name="t52"/>
          <p:cNvSpPr txBox="1"/>
          <p:nvPr/>
        </p:nvSpPr>
        <p:spPr>
          <a:xfrm>
            <a:off x="731520" y="5166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RF-09</a:t>
            </a:r>
            <a:endParaRPr lang="en-US" sz="1500" dirty="0"/>
          </a:p>
        </p:txBody>
      </p:sp>
      <p:sp>
        <p:nvSpPr>
          <p:cNvPr id="38" name="t53"/>
          <p:cNvSpPr txBox="1"/>
          <p:nvPr/>
        </p:nvSpPr>
        <p:spPr>
          <a:xfrm>
            <a:off x="1645920" y="5166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Alertas de stock bajo</a:t>
            </a:r>
            <a:endParaRPr lang="en-US" sz="1500" dirty="0"/>
          </a:p>
        </p:txBody>
      </p:sp>
      <p:sp>
        <p:nvSpPr>
          <p:cNvPr id="39" name="t54"/>
          <p:cNvSpPr txBox="1"/>
          <p:nvPr/>
        </p:nvSpPr>
        <p:spPr>
          <a:xfrm>
            <a:off x="4937760" y="5166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Debería</a:t>
            </a:r>
            <a:endParaRPr lang="en-US" sz="1300" dirty="0"/>
          </a:p>
        </p:txBody>
      </p:sp>
      <p:sp>
        <p:nvSpPr>
          <p:cNvPr id="40" name="c55"/>
          <p:cNvSpPr/>
          <p:nvPr/>
        </p:nvSpPr>
        <p:spPr>
          <a:xfrm>
            <a:off x="6172200" y="516636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1" name="t56"/>
          <p:cNvSpPr txBox="1"/>
          <p:nvPr/>
        </p:nvSpPr>
        <p:spPr>
          <a:xfrm>
            <a:off x="6355080" y="5166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RF-10</a:t>
            </a:r>
            <a:endParaRPr lang="en-US" sz="1500" dirty="0"/>
          </a:p>
        </p:txBody>
      </p:sp>
      <p:sp>
        <p:nvSpPr>
          <p:cNvPr id="42" name="t57"/>
          <p:cNvSpPr txBox="1"/>
          <p:nvPr/>
        </p:nvSpPr>
        <p:spPr>
          <a:xfrm>
            <a:off x="7269480" y="5166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Autenticación por API key</a:t>
            </a:r>
            <a:endParaRPr lang="en-US" sz="1500" dirty="0"/>
          </a:p>
        </p:txBody>
      </p:sp>
      <p:sp>
        <p:nvSpPr>
          <p:cNvPr id="43" name="t58"/>
          <p:cNvSpPr txBox="1"/>
          <p:nvPr/>
        </p:nvSpPr>
        <p:spPr>
          <a:xfrm>
            <a:off x="10561320" y="5166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Debe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no funcionales: atributos de calidad</a:t>
            </a:r>
            <a:endParaRPr lang="en-US" sz="3200" dirty="0"/>
          </a:p>
        </p:txBody>
      </p:sp>
      <p:sp>
        <p:nvSpPr>
          <p:cNvPr id="4" name="c59"/>
          <p:cNvSpPr/>
          <p:nvPr/>
        </p:nvSpPr>
        <p:spPr>
          <a:xfrm>
            <a:off x="548640" y="137160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d60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6" name="t61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RNF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62"/>
          <p:cNvSpPr txBox="1"/>
          <p:nvPr/>
        </p:nvSpPr>
        <p:spPr>
          <a:xfrm>
            <a:off x="73152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</a:t>
            </a:r>
            <a:endParaRPr lang="en-US" sz="1700" dirty="0"/>
          </a:p>
        </p:txBody>
      </p:sp>
      <p:sp>
        <p:nvSpPr>
          <p:cNvPr id="8" name="t63"/>
          <p:cNvSpPr txBox="1"/>
          <p:nvPr/>
        </p:nvSpPr>
        <p:spPr>
          <a:xfrm>
            <a:off x="731520" y="2651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Picos ×3: réplicas de consumidores</a:t>
            </a:r>
            <a:endParaRPr lang="en-US" sz="1400" dirty="0"/>
          </a:p>
        </p:txBody>
      </p:sp>
      <p:sp>
        <p:nvSpPr>
          <p:cNvPr id="9" name="c64"/>
          <p:cNvSpPr/>
          <p:nvPr/>
        </p:nvSpPr>
        <p:spPr>
          <a:xfrm>
            <a:off x="3355848" y="137160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d65"/>
          <p:cNvSpPr/>
          <p:nvPr/>
        </p:nvSpPr>
        <p:spPr>
          <a:xfrm>
            <a:off x="3538728" y="1554480"/>
            <a:ext cx="548640" cy="548640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11" name="t66"/>
          <p:cNvSpPr txBox="1"/>
          <p:nvPr/>
        </p:nvSpPr>
        <p:spPr>
          <a:xfrm>
            <a:off x="353872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RNF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67"/>
          <p:cNvSpPr txBox="1"/>
          <p:nvPr/>
        </p:nvSpPr>
        <p:spPr>
          <a:xfrm>
            <a:off x="3538728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700" dirty="0"/>
          </a:p>
        </p:txBody>
      </p:sp>
      <p:sp>
        <p:nvSpPr>
          <p:cNvPr id="13" name="t68"/>
          <p:cNvSpPr txBox="1"/>
          <p:nvPr/>
        </p:nvSpPr>
        <p:spPr>
          <a:xfrm>
            <a:off x="3538728" y="2651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99,5 %: Inventario puede caer sin frenar el registro</a:t>
            </a:r>
            <a:endParaRPr lang="en-US" sz="1400" dirty="0"/>
          </a:p>
        </p:txBody>
      </p:sp>
      <p:sp>
        <p:nvSpPr>
          <p:cNvPr id="14" name="c69"/>
          <p:cNvSpPr/>
          <p:nvPr/>
        </p:nvSpPr>
        <p:spPr>
          <a:xfrm>
            <a:off x="6163056" y="137160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d70"/>
          <p:cNvSpPr/>
          <p:nvPr/>
        </p:nvSpPr>
        <p:spPr>
          <a:xfrm>
            <a:off x="6345936" y="1554480"/>
            <a:ext cx="548640" cy="548640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16" name="t71"/>
          <p:cNvSpPr txBox="1"/>
          <p:nvPr/>
        </p:nvSpPr>
        <p:spPr>
          <a:xfrm>
            <a:off x="634593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RNF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72"/>
          <p:cNvSpPr txBox="1"/>
          <p:nvPr/>
        </p:nvSpPr>
        <p:spPr>
          <a:xfrm>
            <a:off x="6345936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700" dirty="0"/>
          </a:p>
        </p:txBody>
      </p:sp>
      <p:sp>
        <p:nvSpPr>
          <p:cNvPr id="18" name="t73"/>
          <p:cNvSpPr txBox="1"/>
          <p:nvPr/>
        </p:nvSpPr>
        <p:spPr>
          <a:xfrm>
            <a:off x="6345936" y="2651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Registro &lt; 500 ms (p95): trabajo pesado asíncrono</a:t>
            </a:r>
            <a:endParaRPr lang="en-US" sz="1400" dirty="0"/>
          </a:p>
        </p:txBody>
      </p:sp>
      <p:sp>
        <p:nvSpPr>
          <p:cNvPr id="19" name="c74"/>
          <p:cNvSpPr/>
          <p:nvPr/>
        </p:nvSpPr>
        <p:spPr>
          <a:xfrm>
            <a:off x="8970264" y="137160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d75"/>
          <p:cNvSpPr/>
          <p:nvPr/>
        </p:nvSpPr>
        <p:spPr>
          <a:xfrm>
            <a:off x="9153144" y="1554480"/>
            <a:ext cx="548640" cy="548640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21" name="t76"/>
          <p:cNvSpPr txBox="1"/>
          <p:nvPr/>
        </p:nvSpPr>
        <p:spPr>
          <a:xfrm>
            <a:off x="915314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RNF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77"/>
          <p:cNvSpPr txBox="1"/>
          <p:nvPr/>
        </p:nvSpPr>
        <p:spPr>
          <a:xfrm>
            <a:off x="9153144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700" dirty="0"/>
          </a:p>
        </p:txBody>
      </p:sp>
      <p:sp>
        <p:nvSpPr>
          <p:cNvPr id="23" name="t78"/>
          <p:cNvSpPr txBox="1"/>
          <p:nvPr/>
        </p:nvSpPr>
        <p:spPr>
          <a:xfrm>
            <a:off x="9153144" y="2651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HTTPS, API key, secretos en variables, Ley 1581</a:t>
            </a:r>
            <a:endParaRPr lang="en-US" sz="1400" dirty="0"/>
          </a:p>
        </p:txBody>
      </p:sp>
      <p:sp>
        <p:nvSpPr>
          <p:cNvPr id="24" name="c79"/>
          <p:cNvSpPr/>
          <p:nvPr/>
        </p:nvSpPr>
        <p:spPr>
          <a:xfrm>
            <a:off x="548640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d80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26" name="t81"/>
          <p:cNvSpPr txBox="1"/>
          <p:nvPr/>
        </p:nvSpPr>
        <p:spPr>
          <a:xfrm>
            <a:off x="73152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RNF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82"/>
          <p:cNvSpPr txBox="1"/>
          <p:nvPr/>
        </p:nvSpPr>
        <p:spPr>
          <a:xfrm>
            <a:off x="73152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Resiliencia</a:t>
            </a:r>
            <a:endParaRPr lang="en-US" sz="1700" dirty="0"/>
          </a:p>
        </p:txBody>
      </p:sp>
      <p:sp>
        <p:nvSpPr>
          <p:cNvPr id="28" name="t83"/>
          <p:cNvSpPr txBox="1"/>
          <p:nvPr/>
        </p:nvSpPr>
        <p:spPr>
          <a:xfrm>
            <a:off x="731520" y="4983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Retry, circuit breaker e idempotencia</a:t>
            </a:r>
            <a:endParaRPr lang="en-US" sz="1400" dirty="0"/>
          </a:p>
        </p:txBody>
      </p:sp>
      <p:sp>
        <p:nvSpPr>
          <p:cNvPr id="29" name="c84"/>
          <p:cNvSpPr/>
          <p:nvPr/>
        </p:nvSpPr>
        <p:spPr>
          <a:xfrm>
            <a:off x="3355848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d85"/>
          <p:cNvSpPr/>
          <p:nvPr/>
        </p:nvSpPr>
        <p:spPr>
          <a:xfrm>
            <a:off x="3538728" y="3886200"/>
            <a:ext cx="548640" cy="548640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31" name="t86"/>
          <p:cNvSpPr txBox="1"/>
          <p:nvPr/>
        </p:nvSpPr>
        <p:spPr>
          <a:xfrm>
            <a:off x="3538728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RNF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87"/>
          <p:cNvSpPr txBox="1"/>
          <p:nvPr/>
        </p:nvSpPr>
        <p:spPr>
          <a:xfrm>
            <a:off x="3538728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Mantenibilidad</a:t>
            </a:r>
            <a:endParaRPr lang="en-US" sz="1700" dirty="0"/>
          </a:p>
        </p:txBody>
      </p:sp>
      <p:sp>
        <p:nvSpPr>
          <p:cNvPr id="33" name="t88"/>
          <p:cNvSpPr txBox="1"/>
          <p:nvPr/>
        </p:nvSpPr>
        <p:spPr>
          <a:xfrm>
            <a:off x="3538728" y="4983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Capas, patrones y 10 pruebas automáticas</a:t>
            </a:r>
            <a:endParaRPr lang="en-US" sz="1400" dirty="0"/>
          </a:p>
        </p:txBody>
      </p:sp>
      <p:sp>
        <p:nvSpPr>
          <p:cNvPr id="34" name="c89"/>
          <p:cNvSpPr/>
          <p:nvPr/>
        </p:nvSpPr>
        <p:spPr>
          <a:xfrm>
            <a:off x="6163056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5" name="d90"/>
          <p:cNvSpPr/>
          <p:nvPr/>
        </p:nvSpPr>
        <p:spPr>
          <a:xfrm>
            <a:off x="6345936" y="3886200"/>
            <a:ext cx="548640" cy="548640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36" name="t91"/>
          <p:cNvSpPr txBox="1"/>
          <p:nvPr/>
        </p:nvSpPr>
        <p:spPr>
          <a:xfrm>
            <a:off x="6345936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RNF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07</a:t>
            </a:r>
            <a:endParaRPr lang="en-US" sz="1000" dirty="0"/>
          </a:p>
        </p:txBody>
      </p:sp>
      <p:sp>
        <p:nvSpPr>
          <p:cNvPr id="37" name="t92"/>
          <p:cNvSpPr txBox="1"/>
          <p:nvPr/>
        </p:nvSpPr>
        <p:spPr>
          <a:xfrm>
            <a:off x="6345936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Portabilidad</a:t>
            </a:r>
            <a:endParaRPr lang="en-US" sz="1700" dirty="0"/>
          </a:p>
        </p:txBody>
      </p:sp>
      <p:sp>
        <p:nvSpPr>
          <p:cNvPr id="38" name="t93"/>
          <p:cNvSpPr txBox="1"/>
          <p:nvPr/>
        </p:nvSpPr>
        <p:spPr>
          <a:xfrm>
            <a:off x="6345936" y="4983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Docker y configuración 12-Factor</a:t>
            </a:r>
            <a:endParaRPr lang="en-US" sz="1400" dirty="0"/>
          </a:p>
        </p:txBody>
      </p:sp>
      <p:sp>
        <p:nvSpPr>
          <p:cNvPr id="39" name="c94"/>
          <p:cNvSpPr/>
          <p:nvPr/>
        </p:nvSpPr>
        <p:spPr>
          <a:xfrm>
            <a:off x="8970264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0" name="d95"/>
          <p:cNvSpPr/>
          <p:nvPr/>
        </p:nvSpPr>
        <p:spPr>
          <a:xfrm>
            <a:off x="9153144" y="3886200"/>
            <a:ext cx="548640" cy="548640"/>
          </a:xfrm>
          <a:prstGeom prst="ellipse">
            <a:avLst/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41" name="t96"/>
          <p:cNvSpPr txBox="1"/>
          <p:nvPr/>
        </p:nvSpPr>
        <p:spPr>
          <a:xfrm>
            <a:off x="9153144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RNF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08</a:t>
            </a:r>
            <a:endParaRPr lang="en-US" sz="1000" dirty="0"/>
          </a:p>
        </p:txBody>
      </p:sp>
      <p:sp>
        <p:nvSpPr>
          <p:cNvPr id="42" name="t97"/>
          <p:cNvSpPr txBox="1"/>
          <p:nvPr/>
        </p:nvSpPr>
        <p:spPr>
          <a:xfrm>
            <a:off x="9153144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</a:t>
            </a:r>
            <a:endParaRPr lang="en-US" sz="1700" dirty="0"/>
          </a:p>
        </p:txBody>
      </p:sp>
      <p:sp>
        <p:nvSpPr>
          <p:cNvPr id="43" name="t98"/>
          <p:cNvSpPr txBox="1"/>
          <p:nvPr/>
        </p:nvSpPr>
        <p:spPr>
          <a:xfrm>
            <a:off x="9153144" y="4983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/salud por servicio y estado de circuitos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 elegido: microservicios orientados a eventos</a:t>
            </a:r>
            <a:endParaRPr lang="en-US" sz="3200" dirty="0"/>
          </a:p>
        </p:txBody>
      </p:sp>
      <p:sp>
        <p:nvSpPr>
          <p:cNvPr id="4" name="c99"/>
          <p:cNvSpPr/>
          <p:nvPr/>
        </p:nvSpPr>
        <p:spPr>
          <a:xfrm>
            <a:off x="548640" y="14630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100"/>
          <p:cNvSpPr txBox="1"/>
          <p:nvPr/>
        </p:nvSpPr>
        <p:spPr>
          <a:xfrm>
            <a:off x="658368" y="16002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700" dirty="0"/>
          </a:p>
        </p:txBody>
      </p:sp>
      <p:sp>
        <p:nvSpPr>
          <p:cNvPr id="6" name="t101"/>
          <p:cNvSpPr txBox="1"/>
          <p:nvPr/>
        </p:nvSpPr>
        <p:spPr>
          <a:xfrm>
            <a:off x="658368" y="205740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ERP, navegador o proveedor tecnológico</a:t>
            </a:r>
            <a:endParaRPr lang="en-US" sz="1300" dirty="0"/>
          </a:p>
        </p:txBody>
      </p:sp>
      <p:sp>
        <p:nvSpPr>
          <p:cNvPr id="7" name="a102"/>
          <p:cNvSpPr/>
          <p:nvPr/>
        </p:nvSpPr>
        <p:spPr>
          <a:xfrm>
            <a:off x="2578608" y="2130552"/>
            <a:ext cx="237744" cy="320040"/>
          </a:xfrm>
          <a:prstGeom prst="rightArrow">
            <a:avLst/>
          </a:prstGeom>
          <a:solidFill>
            <a:srgbClr val="3C465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8" name="c103"/>
          <p:cNvSpPr/>
          <p:nvPr/>
        </p:nvSpPr>
        <p:spPr>
          <a:xfrm>
            <a:off x="2834640" y="14630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9" name="t104"/>
          <p:cNvSpPr txBox="1"/>
          <p:nvPr/>
        </p:nvSpPr>
        <p:spPr>
          <a:xfrm>
            <a:off x="2944368" y="16002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700" dirty="0"/>
          </a:p>
        </p:txBody>
      </p:sp>
      <p:sp>
        <p:nvSpPr>
          <p:cNvPr id="10" name="t105"/>
          <p:cNvSpPr txBox="1"/>
          <p:nvPr/>
        </p:nvSpPr>
        <p:spPr>
          <a:xfrm>
            <a:off x="2944368" y="205740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API key · Retry · Circuit Breaker</a:t>
            </a:r>
            <a:endParaRPr lang="en-US" sz="1300" dirty="0"/>
          </a:p>
        </p:txBody>
      </p:sp>
      <p:sp>
        <p:nvSpPr>
          <p:cNvPr id="11" name="a106"/>
          <p:cNvSpPr/>
          <p:nvPr/>
        </p:nvSpPr>
        <p:spPr>
          <a:xfrm>
            <a:off x="4864608" y="2130552"/>
            <a:ext cx="237744" cy="320040"/>
          </a:xfrm>
          <a:prstGeom prst="rightArrow">
            <a:avLst/>
          </a:prstGeom>
          <a:solidFill>
            <a:srgbClr val="3C465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12" name="c107"/>
          <p:cNvSpPr/>
          <p:nvPr/>
        </p:nvSpPr>
        <p:spPr>
          <a:xfrm>
            <a:off x="5120640" y="14630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13" name="t108"/>
          <p:cNvSpPr txBox="1"/>
          <p:nvPr/>
        </p:nvSpPr>
        <p:spPr>
          <a:xfrm>
            <a:off x="5230368" y="16002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</a:t>
            </a:r>
            <a:endParaRPr lang="en-US" sz="1700" dirty="0"/>
          </a:p>
        </p:txBody>
      </p:sp>
      <p:sp>
        <p:nvSpPr>
          <p:cNvPr id="14" name="t109"/>
          <p:cNvSpPr txBox="1"/>
          <p:nvPr/>
        </p:nvSpPr>
        <p:spPr>
          <a:xfrm>
            <a:off x="5230368" y="205740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Parsers · Repository · BD propia</a:t>
            </a:r>
            <a:endParaRPr lang="en-US" sz="1300" dirty="0"/>
          </a:p>
        </p:txBody>
      </p:sp>
      <p:sp>
        <p:nvSpPr>
          <p:cNvPr id="15" name="a110"/>
          <p:cNvSpPr/>
          <p:nvPr/>
        </p:nvSpPr>
        <p:spPr>
          <a:xfrm>
            <a:off x="7150608" y="2130552"/>
            <a:ext cx="237744" cy="320040"/>
          </a:xfrm>
          <a:prstGeom prst="rightArrow">
            <a:avLst/>
          </a:prstGeom>
          <a:solidFill>
            <a:srgbClr val="3C465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16" name="c111"/>
          <p:cNvSpPr/>
          <p:nvPr/>
        </p:nvSpPr>
        <p:spPr>
          <a:xfrm>
            <a:off x="7406640" y="14630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E0892B"/>
          </a:solidFill>
          <a:ln w="12700">
            <a:solidFill>
              <a:srgbClr val="E0892B"/>
            </a:solidFill>
            <a:prstDash val="solid"/>
          </a:ln>
        </p:spPr>
      </p:sp>
      <p:sp>
        <p:nvSpPr>
          <p:cNvPr id="17" name="t112"/>
          <p:cNvSpPr txBox="1"/>
          <p:nvPr/>
        </p:nvSpPr>
        <p:spPr>
          <a:xfrm>
            <a:off x="7516368" y="16002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Streams</a:t>
            </a:r>
            <a:endParaRPr lang="en-US" sz="1700" dirty="0"/>
          </a:p>
        </p:txBody>
      </p:sp>
      <p:sp>
        <p:nvSpPr>
          <p:cNvPr id="18" name="t113"/>
          <p:cNvSpPr txBox="1"/>
          <p:nvPr/>
        </p:nvSpPr>
        <p:spPr>
          <a:xfrm>
            <a:off x="7516368" y="205740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Bus Pub/Sub · grupos</a:t>
            </a:r>
            <a:endParaRPr lang="en-US" sz="1300" dirty="0"/>
          </a:p>
        </p:txBody>
      </p:sp>
      <p:sp>
        <p:nvSpPr>
          <p:cNvPr id="19" name="a114"/>
          <p:cNvSpPr/>
          <p:nvPr/>
        </p:nvSpPr>
        <p:spPr>
          <a:xfrm>
            <a:off x="9436608" y="2130552"/>
            <a:ext cx="237744" cy="320040"/>
          </a:xfrm>
          <a:prstGeom prst="rightArrow">
            <a:avLst/>
          </a:prstGeom>
          <a:solidFill>
            <a:srgbClr val="3C465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20" name="c115"/>
          <p:cNvSpPr/>
          <p:nvPr/>
        </p:nvSpPr>
        <p:spPr>
          <a:xfrm>
            <a:off x="9692640" y="14630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D6A8F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21" name="t116"/>
          <p:cNvSpPr txBox="1"/>
          <p:nvPr/>
        </p:nvSpPr>
        <p:spPr>
          <a:xfrm>
            <a:off x="9802368" y="16002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</a:t>
            </a:r>
            <a:endParaRPr lang="en-US" sz="1700" dirty="0"/>
          </a:p>
        </p:txBody>
      </p:sp>
      <p:sp>
        <p:nvSpPr>
          <p:cNvPr id="22" name="t117"/>
          <p:cNvSpPr txBox="1"/>
          <p:nvPr/>
        </p:nvSpPr>
        <p:spPr>
          <a:xfrm>
            <a:off x="9802368" y="205740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Idempotente · N réplicas · BD propia</a:t>
            </a:r>
            <a:endParaRPr lang="en-US" sz="1300" dirty="0"/>
          </a:p>
        </p:txBody>
      </p:sp>
      <p:sp>
        <p:nvSpPr>
          <p:cNvPr id="23" name="c118"/>
          <p:cNvSpPr/>
          <p:nvPr/>
        </p:nvSpPr>
        <p:spPr>
          <a:xfrm>
            <a:off x="548640" y="3474720"/>
            <a:ext cx="5440680" cy="2423160"/>
          </a:xfrm>
          <a:prstGeom prst="roundRect">
            <a:avLst>
              <a:gd name="adj" fmla="val 4528"/>
            </a:avLst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24" name="t119"/>
          <p:cNvSpPr txBox="1"/>
          <p:nvPr/>
        </p:nvSpPr>
        <p:spPr>
          <a:xfrm>
            <a:off x="777240" y="3611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Monolito</a:t>
            </a:r>
            <a:endParaRPr lang="en-US" sz="1800" dirty="0"/>
          </a:p>
        </p:txBody>
      </p:sp>
      <p:sp>
        <p:nvSpPr>
          <p:cNvPr id="25" name="t120"/>
          <p:cNvSpPr txBox="1"/>
          <p:nvPr/>
        </p:nvSpPr>
        <p:spPr>
          <a:xfrm>
            <a:off x="777240" y="41148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Más simple de operar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Escala todo junto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Una falla detiene todo el sistema</a:t>
            </a:r>
            <a:endParaRPr lang="en-US" sz="1500" dirty="0"/>
          </a:p>
        </p:txBody>
      </p:sp>
      <p:sp>
        <p:nvSpPr>
          <p:cNvPr id="26" name="c121"/>
          <p:cNvSpPr/>
          <p:nvPr/>
        </p:nvSpPr>
        <p:spPr>
          <a:xfrm>
            <a:off x="6172200" y="3474720"/>
            <a:ext cx="5440680" cy="2423160"/>
          </a:xfrm>
          <a:prstGeom prst="roundRect">
            <a:avLst>
              <a:gd name="adj" fmla="val 4528"/>
            </a:avLst>
          </a:prstGeom>
          <a:solidFill>
            <a:srgbClr val="D7E6F2"/>
          </a:solidFill>
          <a:ln w="12700">
            <a:solidFill>
              <a:srgbClr val="D7E6F2"/>
            </a:solidFill>
            <a:prstDash val="solid"/>
          </a:ln>
        </p:spPr>
      </p:sp>
      <p:sp>
        <p:nvSpPr>
          <p:cNvPr id="27" name="t122"/>
          <p:cNvSpPr txBox="1"/>
          <p:nvPr/>
        </p:nvSpPr>
        <p:spPr>
          <a:xfrm>
            <a:off x="6400800" y="3611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con eventos (elegido)</a:t>
            </a:r>
            <a:endParaRPr lang="en-US" sz="1800" dirty="0"/>
          </a:p>
        </p:txBody>
      </p:sp>
      <p:sp>
        <p:nvSpPr>
          <p:cNvPr id="28" name="t123"/>
          <p:cNvSpPr txBox="1"/>
          <p:nvPr/>
        </p:nvSpPr>
        <p:spPr>
          <a:xfrm>
            <a:off x="6400800" y="41148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Escala solo Inventario en temporada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Falla aislada: el evento espera en el stream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Nuevos consumidores sin tocar Facturación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· Diagrama de casos de uso</a:t>
            </a:r>
            <a:endParaRPr lang="en-US" sz="3200" dirty="0"/>
          </a:p>
        </p:txBody>
      </p:sp>
      <p:sp>
        <p:nvSpPr>
          <p:cNvPr id="4" name="c124"/>
          <p:cNvSpPr/>
          <p:nvPr/>
        </p:nvSpPr>
        <p:spPr>
          <a:xfrm>
            <a:off x="548640" y="1280160"/>
            <a:ext cx="78638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g125" descr="casos_de_u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41874"/>
            <a:ext cx="7680960" cy="4185732"/>
          </a:xfrm>
          <a:prstGeom prst="rect">
            <a:avLst/>
          </a:prstGeom>
        </p:spPr>
      </p:pic>
      <p:sp>
        <p:nvSpPr>
          <p:cNvPr id="6" name="c126"/>
          <p:cNvSpPr/>
          <p:nvPr/>
        </p:nvSpPr>
        <p:spPr>
          <a:xfrm>
            <a:off x="8686800" y="1280160"/>
            <a:ext cx="2926080" cy="4709160"/>
          </a:xfrm>
          <a:prstGeom prst="roundRect">
            <a:avLst>
              <a:gd name="adj" fmla="val 375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127"/>
          <p:cNvSpPr txBox="1"/>
          <p:nvPr/>
        </p:nvSpPr>
        <p:spPr>
          <a:xfrm>
            <a:off x="88696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y relevancia</a:t>
            </a:r>
            <a:endParaRPr lang="en-US" sz="1500" dirty="0"/>
          </a:p>
        </p:txBody>
      </p:sp>
      <p:sp>
        <p:nvSpPr>
          <p:cNvPr id="8" name="t128"/>
          <p:cNvSpPr txBox="1"/>
          <p:nvPr/>
        </p:nvSpPr>
        <p:spPr>
          <a:xfrm>
            <a:off x="8869680" y="1874520"/>
            <a:ext cx="2560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Cuatro actores y seis casos de uso. Registrar una factura incluye validarla, clasificarla y actualizar el inventario. La alerta de stock bajo extiende la actualización. Todos incluyen la autenticación.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· Diagrama de clases</a:t>
            </a:r>
            <a:endParaRPr lang="en-US" sz="3200" dirty="0"/>
          </a:p>
        </p:txBody>
      </p:sp>
      <p:sp>
        <p:nvSpPr>
          <p:cNvPr id="4" name="c129"/>
          <p:cNvSpPr/>
          <p:nvPr/>
        </p:nvSpPr>
        <p:spPr>
          <a:xfrm>
            <a:off x="548640" y="1280160"/>
            <a:ext cx="78638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g130" descr="cl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6039"/>
            <a:ext cx="7680960" cy="4197402"/>
          </a:xfrm>
          <a:prstGeom prst="rect">
            <a:avLst/>
          </a:prstGeom>
        </p:spPr>
      </p:pic>
      <p:sp>
        <p:nvSpPr>
          <p:cNvPr id="6" name="c131"/>
          <p:cNvSpPr/>
          <p:nvPr/>
        </p:nvSpPr>
        <p:spPr>
          <a:xfrm>
            <a:off x="8686800" y="1280160"/>
            <a:ext cx="2926080" cy="4709160"/>
          </a:xfrm>
          <a:prstGeom prst="roundRect">
            <a:avLst>
              <a:gd name="adj" fmla="val 375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132"/>
          <p:cNvSpPr txBox="1"/>
          <p:nvPr/>
        </p:nvSpPr>
        <p:spPr>
          <a:xfrm>
            <a:off x="88696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y relevancia</a:t>
            </a:r>
            <a:endParaRPr lang="en-US" sz="1500" dirty="0"/>
          </a:p>
        </p:txBody>
      </p:sp>
      <p:sp>
        <p:nvSpPr>
          <p:cNvPr id="8" name="t133"/>
          <p:cNvSpPr txBox="1"/>
          <p:nvPr/>
        </p:nvSpPr>
        <p:spPr>
          <a:xfrm>
            <a:off x="8869680" y="1874520"/>
            <a:ext cx="2560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servicios dependen de interfaces: FacturaParser (Strategy), FacturaRepository (Repository) y EventBus (Pub/Sub). Las implementaciones son intercambiables: SQLite o PostgreSQL, bus en memoria o Redis.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· Diagrama de secuencia: registrar factura</a:t>
            </a:r>
            <a:endParaRPr lang="en-US" sz="3200" dirty="0"/>
          </a:p>
        </p:txBody>
      </p:sp>
      <p:sp>
        <p:nvSpPr>
          <p:cNvPr id="4" name="c134"/>
          <p:cNvSpPr/>
          <p:nvPr/>
        </p:nvSpPr>
        <p:spPr>
          <a:xfrm>
            <a:off x="548640" y="1280160"/>
            <a:ext cx="78638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g135" descr="secu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9266"/>
            <a:ext cx="7680960" cy="3970947"/>
          </a:xfrm>
          <a:prstGeom prst="rect">
            <a:avLst/>
          </a:prstGeom>
        </p:spPr>
      </p:pic>
      <p:sp>
        <p:nvSpPr>
          <p:cNvPr id="6" name="c136"/>
          <p:cNvSpPr/>
          <p:nvPr/>
        </p:nvSpPr>
        <p:spPr>
          <a:xfrm>
            <a:off x="8686800" y="1280160"/>
            <a:ext cx="2926080" cy="4709160"/>
          </a:xfrm>
          <a:prstGeom prst="roundRect">
            <a:avLst>
              <a:gd name="adj" fmla="val 375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137"/>
          <p:cNvSpPr txBox="1"/>
          <p:nvPr/>
        </p:nvSpPr>
        <p:spPr>
          <a:xfrm>
            <a:off x="88696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y relevancia</a:t>
            </a:r>
            <a:endParaRPr lang="en-US" sz="1500" dirty="0"/>
          </a:p>
        </p:txBody>
      </p:sp>
      <p:sp>
        <p:nvSpPr>
          <p:cNvPr id="8" name="t138"/>
          <p:cNvSpPr txBox="1"/>
          <p:nvPr/>
        </p:nvSpPr>
        <p:spPr>
          <a:xfrm>
            <a:off x="8869680" y="1874520"/>
            <a:ext cx="2560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Parte síncrona: el gateway valida, Facturación guarda y publica, y el usuario recibe 201. Parte asíncrona: Inventario lee el stream, verifica la idempotencia, actualiza el stock y confirma con XACK.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· Diagrama de despliegue</a:t>
            </a:r>
            <a:endParaRPr lang="en-US" sz="3200" dirty="0"/>
          </a:p>
        </p:txBody>
      </p:sp>
      <p:sp>
        <p:nvSpPr>
          <p:cNvPr id="4" name="c139"/>
          <p:cNvSpPr/>
          <p:nvPr/>
        </p:nvSpPr>
        <p:spPr>
          <a:xfrm>
            <a:off x="548640" y="1280160"/>
            <a:ext cx="78638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g140" descr="desplieg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436" y="1325880"/>
            <a:ext cx="5194249" cy="4617720"/>
          </a:xfrm>
          <a:prstGeom prst="rect">
            <a:avLst/>
          </a:prstGeom>
        </p:spPr>
      </p:pic>
      <p:sp>
        <p:nvSpPr>
          <p:cNvPr id="6" name="c141"/>
          <p:cNvSpPr/>
          <p:nvPr/>
        </p:nvSpPr>
        <p:spPr>
          <a:xfrm>
            <a:off x="8686800" y="1280160"/>
            <a:ext cx="2926080" cy="4709160"/>
          </a:xfrm>
          <a:prstGeom prst="roundRect">
            <a:avLst>
              <a:gd name="adj" fmla="val 375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142"/>
          <p:cNvSpPr txBox="1"/>
          <p:nvPr/>
        </p:nvSpPr>
        <p:spPr>
          <a:xfrm>
            <a:off x="88696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y relevancia</a:t>
            </a:r>
            <a:endParaRPr lang="en-US" sz="1500" dirty="0"/>
          </a:p>
        </p:txBody>
      </p:sp>
      <p:sp>
        <p:nvSpPr>
          <p:cNvPr id="8" name="t143"/>
          <p:cNvSpPr txBox="1"/>
          <p:nvPr/>
        </p:nvSpPr>
        <p:spPr>
          <a:xfrm>
            <a:off x="8869680" y="1874520"/>
            <a:ext cx="2560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gateway es el único servicio público (HTTPS). Facturación e Inventario son contenedores privados con su propia base de datos, comunicados por Redis administrado. Despliegue continuo desde GitHub con render.yaml.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de diseño seleccionados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aplica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 que atiende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única, API key, enrutamiento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Pub/Sub + Competing Consumers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Streams con grupos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Disponibilidad, escalabilidad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Consumidor idempotente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 procesados en la misma transacción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+ backoff exponencial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 s → 0,2 s → 0,4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Breaker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fallos → abierto 30 s → semiabierto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Endpoint Monitoring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/salud y estado de circuitos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Configuration (12-Factor)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por variables de entorno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per Service + Repository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hoy, PostgreSQL mañana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Mantenibilidad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+ Factory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 XML UBL o JSON según content-type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C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Extensibilidad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funcional y demostración</a:t>
            </a:r>
            <a:endParaRPr lang="en-US" sz="3200" dirty="0"/>
          </a:p>
        </p:txBody>
      </p:sp>
      <p:sp>
        <p:nvSpPr>
          <p:cNvPr id="4" name="c144"/>
          <p:cNvSpPr/>
          <p:nvPr/>
        </p:nvSpPr>
        <p:spPr>
          <a:xfrm>
            <a:off x="548640" y="1325880"/>
            <a:ext cx="5486400" cy="4617720"/>
          </a:xfrm>
          <a:prstGeom prst="roundRect">
            <a:avLst>
              <a:gd name="adj" fmla="val 237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" name="t145"/>
          <p:cNvSpPr txBox="1"/>
          <p:nvPr/>
        </p:nvSpPr>
        <p:spPr>
          <a:xfrm>
            <a:off x="777240" y="1463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paso a paso</a:t>
            </a:r>
            <a:endParaRPr lang="en-US" sz="1800" dirty="0"/>
          </a:p>
        </p:txBody>
      </p:sp>
      <p:sp>
        <p:nvSpPr>
          <p:cNvPr id="6" name="t146"/>
          <p:cNvSpPr txBox="1"/>
          <p:nvPr/>
        </p:nvSpPr>
        <p:spPr>
          <a:xfrm>
            <a:off x="777240" y="2011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POST compra FV-8841 (30 morrales, 20 canguros)</a:t>
            </a:r>
            <a:endParaRPr lang="en-US" sz="1500" dirty="0"/>
          </a:p>
        </p:txBody>
      </p:sp>
      <p:sp>
        <p:nvSpPr>
          <p:cNvPr id="7" name="d147"/>
          <p:cNvSpPr/>
          <p:nvPr/>
        </p:nvSpPr>
        <p:spPr>
          <a:xfrm>
            <a:off x="5074920" y="2057400"/>
            <a:ext cx="548640" cy="548640"/>
          </a:xfrm>
          <a:prstGeom prst="ellipse">
            <a:avLst/>
          </a:prstGeom>
          <a:solidFill>
            <a:srgbClr val="3A8F5C"/>
          </a:solidFill>
          <a:ln w="12700">
            <a:solidFill>
              <a:srgbClr val="3A8F5C"/>
            </a:solidFill>
            <a:prstDash val="solid"/>
          </a:ln>
        </p:spPr>
      </p:sp>
      <p:sp>
        <p:nvSpPr>
          <p:cNvPr id="8" name="t148"/>
          <p:cNvSpPr txBox="1"/>
          <p:nvPr/>
        </p:nvSpPr>
        <p:spPr>
          <a:xfrm>
            <a:off x="50749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201</a:t>
            </a:r>
            <a:endParaRPr lang="en-US" sz="1200" dirty="0"/>
          </a:p>
        </p:txBody>
      </p:sp>
      <p:sp>
        <p:nvSpPr>
          <p:cNvPr id="9" name="t149"/>
          <p:cNvSpPr txBox="1"/>
          <p:nvPr/>
        </p:nvSpPr>
        <p:spPr>
          <a:xfrm>
            <a:off x="777240" y="27614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POST venta AND-1001 (12 morrales, 17 canguros)</a:t>
            </a:r>
            <a:endParaRPr lang="en-US" sz="1500" dirty="0"/>
          </a:p>
        </p:txBody>
      </p:sp>
      <p:sp>
        <p:nvSpPr>
          <p:cNvPr id="10" name="d150"/>
          <p:cNvSpPr/>
          <p:nvPr/>
        </p:nvSpPr>
        <p:spPr>
          <a:xfrm>
            <a:off x="5074920" y="2807208"/>
            <a:ext cx="548640" cy="548640"/>
          </a:xfrm>
          <a:prstGeom prst="ellipse">
            <a:avLst/>
          </a:prstGeom>
          <a:solidFill>
            <a:srgbClr val="3A8F5C"/>
          </a:solidFill>
          <a:ln w="12700">
            <a:solidFill>
              <a:srgbClr val="3A8F5C"/>
            </a:solidFill>
            <a:prstDash val="solid"/>
          </a:ln>
        </p:spPr>
      </p:sp>
      <p:sp>
        <p:nvSpPr>
          <p:cNvPr id="11" name="t151"/>
          <p:cNvSpPr txBox="1"/>
          <p:nvPr/>
        </p:nvSpPr>
        <p:spPr>
          <a:xfrm>
            <a:off x="507492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201</a:t>
            </a:r>
            <a:endParaRPr lang="en-US" sz="1200" dirty="0"/>
          </a:p>
        </p:txBody>
      </p:sp>
      <p:sp>
        <p:nvSpPr>
          <p:cNvPr id="12" name="t152"/>
          <p:cNvSpPr txBox="1"/>
          <p:nvPr/>
        </p:nvSpPr>
        <p:spPr>
          <a:xfrm>
            <a:off x="777240" y="35112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POST la misma venta</a:t>
            </a:r>
            <a:endParaRPr lang="en-US" sz="1500" dirty="0"/>
          </a:p>
        </p:txBody>
      </p:sp>
      <p:sp>
        <p:nvSpPr>
          <p:cNvPr id="13" name="d153"/>
          <p:cNvSpPr/>
          <p:nvPr/>
        </p:nvSpPr>
        <p:spPr>
          <a:xfrm>
            <a:off x="5074920" y="3557016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154"/>
          <p:cNvSpPr txBox="1"/>
          <p:nvPr/>
        </p:nvSpPr>
        <p:spPr>
          <a:xfrm>
            <a:off x="5074920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409</a:t>
            </a:r>
            <a:endParaRPr lang="en-US" sz="1200" dirty="0"/>
          </a:p>
        </p:txBody>
      </p:sp>
      <p:sp>
        <p:nvSpPr>
          <p:cNvPr id="15" name="t155"/>
          <p:cNvSpPr txBox="1"/>
          <p:nvPr/>
        </p:nvSpPr>
        <p:spPr>
          <a:xfrm>
            <a:off x="777240" y="426110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GET inventario → morrales 18 · canguros 3</a:t>
            </a:r>
            <a:endParaRPr lang="en-US" sz="1500" dirty="0"/>
          </a:p>
        </p:txBody>
      </p:sp>
      <p:sp>
        <p:nvSpPr>
          <p:cNvPr id="16" name="d156"/>
          <p:cNvSpPr/>
          <p:nvPr/>
        </p:nvSpPr>
        <p:spPr>
          <a:xfrm>
            <a:off x="5074920" y="4306824"/>
            <a:ext cx="548640" cy="548640"/>
          </a:xfrm>
          <a:prstGeom prst="ellipse">
            <a:avLst/>
          </a:prstGeom>
          <a:solidFill>
            <a:srgbClr val="3A8F5C"/>
          </a:solidFill>
          <a:ln w="12700">
            <a:solidFill>
              <a:srgbClr val="3A8F5C"/>
            </a:solidFill>
            <a:prstDash val="solid"/>
          </a:ln>
        </p:spPr>
      </p:sp>
      <p:sp>
        <p:nvSpPr>
          <p:cNvPr id="17" name="t157"/>
          <p:cNvSpPr txBox="1"/>
          <p:nvPr/>
        </p:nvSpPr>
        <p:spPr>
          <a:xfrm>
            <a:off x="5074920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OK</a:t>
            </a:r>
            <a:endParaRPr lang="en-US" sz="1200" dirty="0"/>
          </a:p>
        </p:txBody>
      </p:sp>
      <p:sp>
        <p:nvSpPr>
          <p:cNvPr id="18" name="t158"/>
          <p:cNvSpPr txBox="1"/>
          <p:nvPr/>
        </p:nvSpPr>
        <p:spPr>
          <a:xfrm>
            <a:off x="777240" y="50109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GET alertas → CAN-002 bajo el mínimo (5)</a:t>
            </a:r>
            <a:endParaRPr lang="en-US" sz="1500" dirty="0"/>
          </a:p>
        </p:txBody>
      </p:sp>
      <p:sp>
        <p:nvSpPr>
          <p:cNvPr id="19" name="d159"/>
          <p:cNvSpPr/>
          <p:nvPr/>
        </p:nvSpPr>
        <p:spPr>
          <a:xfrm>
            <a:off x="5074920" y="5056632"/>
            <a:ext cx="548640" cy="548640"/>
          </a:xfrm>
          <a:prstGeom prst="ellipse">
            <a:avLst/>
          </a:prstGeom>
          <a:solidFill>
            <a:srgbClr val="E0892B"/>
          </a:solidFill>
          <a:ln w="12700">
            <a:solidFill>
              <a:srgbClr val="E0892B"/>
            </a:solidFill>
            <a:prstDash val="solid"/>
          </a:ln>
        </p:spPr>
      </p:sp>
      <p:sp>
        <p:nvSpPr>
          <p:cNvPr id="20" name="t160"/>
          <p:cNvSpPr txBox="1"/>
          <p:nvPr/>
        </p:nvSpPr>
        <p:spPr>
          <a:xfrm>
            <a:off x="5074920" y="5056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⚠</a:t>
            </a:r>
            <a:endParaRPr lang="en-US" sz="1200" dirty="0"/>
          </a:p>
        </p:txBody>
      </p:sp>
      <p:sp>
        <p:nvSpPr>
          <p:cNvPr id="21" name="c161"/>
          <p:cNvSpPr/>
          <p:nvPr/>
        </p:nvSpPr>
        <p:spPr>
          <a:xfrm>
            <a:off x="6309360" y="132588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162"/>
          <p:cNvSpPr txBox="1"/>
          <p:nvPr/>
        </p:nvSpPr>
        <p:spPr>
          <a:xfrm>
            <a:off x="6537960" y="1463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4000" dirty="0"/>
          </a:p>
        </p:txBody>
      </p:sp>
      <p:sp>
        <p:nvSpPr>
          <p:cNvPr id="23" name="t163"/>
          <p:cNvSpPr txBox="1"/>
          <p:nvPr/>
        </p:nvSpPr>
        <p:spPr>
          <a:xfrm>
            <a:off x="8046720" y="14630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pruebas automatizadas aprobadas (pytest)</a:t>
            </a:r>
            <a:endParaRPr lang="en-US" sz="1500" dirty="0"/>
          </a:p>
        </p:txBody>
      </p:sp>
      <p:sp>
        <p:nvSpPr>
          <p:cNvPr id="24" name="c164"/>
          <p:cNvSpPr/>
          <p:nvPr/>
        </p:nvSpPr>
        <p:spPr>
          <a:xfrm>
            <a:off x="6309360" y="292608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165"/>
          <p:cNvSpPr txBox="1"/>
          <p:nvPr/>
        </p:nvSpPr>
        <p:spPr>
          <a:xfrm>
            <a:off x="6537960" y="30632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26" name="t166"/>
          <p:cNvSpPr txBox="1"/>
          <p:nvPr/>
        </p:nvSpPr>
        <p:spPr>
          <a:xfrm>
            <a:off x="8046720" y="30632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contenedores con docker compose: gateway, facturación, inventario y Redis</a:t>
            </a:r>
            <a:endParaRPr lang="en-US" sz="1500" dirty="0"/>
          </a:p>
        </p:txBody>
      </p:sp>
      <p:sp>
        <p:nvSpPr>
          <p:cNvPr id="27" name="c167"/>
          <p:cNvSpPr/>
          <p:nvPr/>
        </p:nvSpPr>
        <p:spPr>
          <a:xfrm>
            <a:off x="6309360" y="452628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t168"/>
          <p:cNvSpPr txBox="1"/>
          <p:nvPr/>
        </p:nvSpPr>
        <p:spPr>
          <a:xfrm>
            <a:off x="6537960" y="46634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29" name="t169"/>
          <p:cNvSpPr txBox="1"/>
          <p:nvPr/>
        </p:nvSpPr>
        <p:spPr>
          <a:xfrm>
            <a:off x="8046720" y="46634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formas de desplegar en Render: demo de un servicio o Blueprint completo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entregables</a:t>
            </a:r>
            <a:endParaRPr lang="en-US" sz="3200" dirty="0"/>
          </a:p>
        </p:txBody>
      </p:sp>
      <p:sp>
        <p:nvSpPr>
          <p:cNvPr id="4" name="d170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3A8F5C"/>
          </a:solidFill>
          <a:ln w="12700">
            <a:solidFill>
              <a:srgbClr val="3A8F5C"/>
            </a:solidFill>
            <a:prstDash val="solid"/>
          </a:ln>
        </p:spPr>
      </p:sp>
      <p:sp>
        <p:nvSpPr>
          <p:cNvPr id="5" name="t171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172"/>
          <p:cNvSpPr txBox="1"/>
          <p:nvPr/>
        </p:nvSpPr>
        <p:spPr>
          <a:xfrm>
            <a:off x="1371600" y="1371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Los patrones se derivaron de los atributos de calidad</a:t>
            </a:r>
            <a:endParaRPr lang="en-US" sz="1700" dirty="0"/>
          </a:p>
        </p:txBody>
      </p:sp>
      <p:sp>
        <p:nvSpPr>
          <p:cNvPr id="7" name="d173"/>
          <p:cNvSpPr/>
          <p:nvPr/>
        </p:nvSpPr>
        <p:spPr>
          <a:xfrm>
            <a:off x="548640" y="2423160"/>
            <a:ext cx="594360" cy="594360"/>
          </a:xfrm>
          <a:prstGeom prst="ellipse">
            <a:avLst/>
          </a:prstGeom>
          <a:solidFill>
            <a:srgbClr val="3A8F5C"/>
          </a:solidFill>
          <a:ln w="12700">
            <a:solidFill>
              <a:srgbClr val="3A8F5C"/>
            </a:solidFill>
            <a:prstDash val="solid"/>
          </a:ln>
        </p:spPr>
      </p:sp>
      <p:sp>
        <p:nvSpPr>
          <p:cNvPr id="8" name="t174"/>
          <p:cNvSpPr txBox="1"/>
          <p:nvPr/>
        </p:nvSpPr>
        <p:spPr>
          <a:xfrm>
            <a:off x="54864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175"/>
          <p:cNvSpPr txBox="1"/>
          <p:nvPr/>
        </p:nvSpPr>
        <p:spPr>
          <a:xfrm>
            <a:off x="1371600" y="2377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Facturación sigue operando aunque Inventario falle</a:t>
            </a:r>
            <a:endParaRPr lang="en-US" sz="1700" dirty="0"/>
          </a:p>
        </p:txBody>
      </p:sp>
      <p:sp>
        <p:nvSpPr>
          <p:cNvPr id="10" name="d176"/>
          <p:cNvSpPr/>
          <p:nvPr/>
        </p:nvSpPr>
        <p:spPr>
          <a:xfrm>
            <a:off x="548640" y="3429000"/>
            <a:ext cx="594360" cy="594360"/>
          </a:xfrm>
          <a:prstGeom prst="ellipse">
            <a:avLst/>
          </a:prstGeom>
          <a:solidFill>
            <a:srgbClr val="3A8F5C"/>
          </a:solidFill>
          <a:ln w="12700">
            <a:solidFill>
              <a:srgbClr val="3A8F5C"/>
            </a:solidFill>
            <a:prstDash val="solid"/>
          </a:ln>
        </p:spPr>
      </p:sp>
      <p:sp>
        <p:nvSpPr>
          <p:cNvPr id="11" name="t177"/>
          <p:cNvSpPr txBox="1"/>
          <p:nvPr/>
        </p:nvSpPr>
        <p:spPr>
          <a:xfrm>
            <a:off x="54864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178"/>
          <p:cNvSpPr txBox="1"/>
          <p:nvPr/>
        </p:nvSpPr>
        <p:spPr>
          <a:xfrm>
            <a:off x="1371600" y="3383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Inventario escala de forma independiente en temporada</a:t>
            </a:r>
            <a:endParaRPr lang="en-US" sz="1700" dirty="0"/>
          </a:p>
        </p:txBody>
      </p:sp>
      <p:sp>
        <p:nvSpPr>
          <p:cNvPr id="13" name="d179"/>
          <p:cNvSpPr/>
          <p:nvPr/>
        </p:nvSpPr>
        <p:spPr>
          <a:xfrm>
            <a:off x="548640" y="4434840"/>
            <a:ext cx="594360" cy="594360"/>
          </a:xfrm>
          <a:prstGeom prst="ellipse">
            <a:avLst/>
          </a:prstGeom>
          <a:solidFill>
            <a:srgbClr val="3A8F5C"/>
          </a:solidFill>
          <a:ln w="12700">
            <a:solidFill>
              <a:srgbClr val="3A8F5C"/>
            </a:solidFill>
            <a:prstDash val="solid"/>
          </a:ln>
        </p:spPr>
      </p:sp>
      <p:sp>
        <p:nvSpPr>
          <p:cNvPr id="14" name="t180"/>
          <p:cNvSpPr txBox="1"/>
          <p:nvPr/>
        </p:nvSpPr>
        <p:spPr>
          <a:xfrm>
            <a:off x="548640" y="4434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181"/>
          <p:cNvSpPr txBox="1"/>
          <p:nvPr/>
        </p:nvSpPr>
        <p:spPr>
          <a:xfrm>
            <a:off x="1371600" y="4389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Futuro: PostgreSQL, OAuth 2.0, OpenTelemetry y Outbox</a:t>
            </a:r>
            <a:endParaRPr lang="en-US" sz="1700" dirty="0"/>
          </a:p>
        </p:txBody>
      </p:sp>
      <p:sp>
        <p:nvSpPr>
          <p:cNvPr id="16" name="c182"/>
          <p:cNvSpPr/>
          <p:nvPr/>
        </p:nvSpPr>
        <p:spPr>
          <a:xfrm>
            <a:off x="6858000" y="1371600"/>
            <a:ext cx="4754880" cy="4480560"/>
          </a:xfrm>
          <a:prstGeom prst="roundRect">
            <a:avLst>
              <a:gd name="adj" fmla="val 244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183"/>
          <p:cNvSpPr txBox="1"/>
          <p:nvPr/>
        </p:nvSpPr>
        <p:spPr>
          <a:xfrm>
            <a:off x="7132320" y="1554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</a:t>
            </a:r>
            <a:endParaRPr lang="en-US" sz="1800" dirty="0"/>
          </a:p>
        </p:txBody>
      </p:sp>
      <p:sp>
        <p:nvSpPr>
          <p:cNvPr id="18" name="t184"/>
          <p:cNvSpPr txBox="1"/>
          <p:nvPr/>
        </p:nvSpPr>
        <p:spPr>
          <a:xfrm>
            <a:off x="7132320" y="210312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Repositorio: </a:t>
            </a:r>
            <a:pPr indent="0" marL="0">
              <a:spcAft>
                <a:spcPts val="1400"/>
              </a:spcAft>
              <a:buNone/>
            </a:pPr>
            <a:r>
              <a:rPr lang="en-US" sz="1500" u="sng" dirty="0">
                <a:solidFill>
                  <a:schemeClr val="accent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https://github.com/Brayanj20/andina-cloud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Informe técnico en PDF (14 páginas)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Prototipo con 10 pruebas automatizadas, Docker y blueprint de Render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dina">
  <a:themeElements>
    <a:clrScheme name="Andina">
      <a:dk1>
        <a:srgbClr val="1F2A44"/>
      </a:dk1>
      <a:lt1>
        <a:srgbClr val="FFFFFF"/>
      </a:lt1>
      <a:dk2>
        <a:srgbClr val="3C4658"/>
      </a:dk2>
      <a:lt2>
        <a:srgbClr val="EEF2F7"/>
      </a:lt2>
      <a:accent1>
        <a:srgbClr val="2D6A8F"/>
      </a:accent1>
      <a:accent2>
        <a:srgbClr val="E0892B"/>
      </a:accent2>
      <a:accent3>
        <a:srgbClr val="8A93A6"/>
      </a:accent3>
      <a:accent4>
        <a:srgbClr val="D7E6F2"/>
      </a:accent4>
      <a:accent5>
        <a:srgbClr val="C0392B"/>
      </a:accent5>
      <a:accent6>
        <a:srgbClr val="3A8F5C"/>
      </a:accent6>
      <a:hlink>
        <a:srgbClr val="2D6A8F"/>
      </a:hlink>
      <a:folHlink>
        <a:srgbClr val="1F2A44"/>
      </a:folHlink>
    </a:clrScheme>
    <a:fontScheme name="Andin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Orquestando códigos</dc:title>
  <dc:subject>PptxGenJS Presentation</dc:subject>
  <dc:creator>Brayan Julián Herrera Rodríguez</dc:creator>
  <cp:lastModifiedBy>Brayan Julián Herrera Rodríguez</cp:lastModifiedBy>
  <cp:revision>1</cp:revision>
  <dcterms:created xsi:type="dcterms:W3CDTF">2026-10-22T00:03:13Z</dcterms:created>
  <dcterms:modified xsi:type="dcterms:W3CDTF">2026-10-22T00:03:13Z</dcterms:modified>
</cp:coreProperties>
</file>